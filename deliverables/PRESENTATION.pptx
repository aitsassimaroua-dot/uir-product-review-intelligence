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B8AC8F"/>
                </a:solidFill>
                <a:latin typeface="Calibri"/>
              </a:rPr>
              <a:t>P R O J E T   I N T É G R É   S 8   ·   2 0 2 5 — 2 0 2 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280160"/>
            <a:ext cx="164592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405244"/>
                </a:solidFill>
                <a:latin typeface="Cambria"/>
              </a:rPr>
              <a:t>Product Review</a:t>
            </a:r>
          </a:p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405244"/>
                </a:solidFill>
                <a:latin typeface="Cambria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 i="1">
                <a:solidFill>
                  <a:srgbClr val="4A5763"/>
                </a:solidFill>
                <a:latin typeface="Cambria"/>
              </a:rPr>
              <a:t>Un système multi-agents pour l’analyse des avis clients</a:t>
            </a:r>
          </a:p>
          <a:p>
            <a:pPr algn="l">
              <a:lnSpc>
                <a:spcPct val="130000"/>
              </a:lnSpc>
            </a:pPr>
            <a:r>
              <a:rPr sz="2100" b="0" i="1">
                <a:solidFill>
                  <a:srgbClr val="4A5763"/>
                </a:solidFill>
                <a:latin typeface="Cambria"/>
              </a:rPr>
              <a:t>et la veille concurrentielle.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760720"/>
            <a:ext cx="2286000" cy="0"/>
          </a:xfrm>
          <a:prstGeom prst="line">
            <a:avLst/>
          </a:prstGeom>
          <a:ln w="9525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8B96A0"/>
                </a:solidFill>
                <a:latin typeface="Calibri"/>
              </a:rPr>
              <a:t>PRÉSENTÉ 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62B"/>
                </a:solidFill>
                <a:latin typeface="Cambria"/>
              </a:rPr>
              <a:t>Chaymae Benmakhlouf  ·  Maroua Ait Sassi  ·  Rania Bouaroua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Comprendre les clients à grande échelle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Pourquoi un système multi-agents pour l’analyse d’avis 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2262B"/>
                </a:solidFill>
                <a:latin typeface="Cambria"/>
              </a:rPr>
              <a:t>Les plateformes e-commerce génèrent chaque jour des dizaines de milliers d’avis clients. Cette masse de données contient des informations précieuses : ce qui plaît, ce qui déçoit, et comment le produit se positionne face à la concurrence.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2262B"/>
                </a:solidFill>
                <a:latin typeface="Cambria"/>
              </a:rPr>
              <a:t>Or, extraire ces signaux à la main reste long, coûteux et peu reproductible. Un seul prompt LLM, lui, mélange classification, recherche et rédaction — la qualité chute sur chacun de ces axes. Notre projet propose une réponse :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2262B"/>
                </a:solidFill>
                <a:latin typeface="Cambria"/>
              </a:rPr>
              <a:t>décomposer la tâche en trois agents spécialisés, chacun équipé de ses propres outils, et garder un humain dans la boucle au moment de la décision finale.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Ce que le système doit faire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Cinq exigences alignées sur le cahier des charges du projet S8.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276148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2688" y="260604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Architecture multi-agents. </a:t>
            </a:r>
            <a:r>
              <a:rPr sz="1400">
                <a:solidFill>
                  <a:srgbClr val="22262B"/>
                </a:solidFill>
                <a:latin typeface="Cambria"/>
              </a:rPr>
              <a:t>Au moins deux spécialistes et un orchestrateur, chacun avec une responsabilité claire.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26440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10896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Modèle de Deep Learning entraîné maison. </a:t>
            </a:r>
            <a:r>
              <a:rPr sz="1400">
                <a:solidFill>
                  <a:srgbClr val="22262B"/>
                </a:solidFill>
                <a:latin typeface="Cambria"/>
              </a:rPr>
              <a:t>Pas un appel API générique — un modèle que nous fine-tunons, évaluons et exposons comme outil.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76732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361188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Outils typés avec schémas Pydantic. </a:t>
            </a:r>
            <a:r>
              <a:rPr sz="1400">
                <a:solidFill>
                  <a:srgbClr val="22262B"/>
                </a:solidFill>
                <a:latin typeface="Cambria"/>
              </a:rPr>
              <a:t>Entrées validées, sorties structurées, pas d’exception qui remonte au-dessus du tool.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27024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411480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Human-in-the-loop avant la sortie finale. </a:t>
            </a:r>
            <a:r>
              <a:rPr sz="1400">
                <a:solidFill>
                  <a:srgbClr val="22262B"/>
                </a:solidFill>
                <a:latin typeface="Cambria"/>
              </a:rPr>
              <a:t>L’utilisateur peut approuver, éditer ou rejeter le brief avant qu’il soit écrit sur disque.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77316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461772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Reproductibilité et journalisation. </a:t>
            </a:r>
            <a:r>
              <a:rPr sz="1400">
                <a:solidFill>
                  <a:srgbClr val="22262B"/>
                </a:solidFill>
                <a:latin typeface="Cambria"/>
              </a:rPr>
              <a:t>Seed fixe, .env partagé, et chaque action d’agent tracée en JSONL avec horodatage.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Trois agents en séquence, une humaine au 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Pipeline construit avec CrewAI. Chaque tâche reçoit le contexte de la précédente.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6974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LE FIL D’EXÉCUTION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62B"/>
                </a:solidFill>
                <a:latin typeface="Cambria"/>
              </a:rPr>
              <a:t>1.  Le Sentiment Analyst charge le CSV d’avis, appelle BERT sur chaque ligne et agrège : compte des positifs/négatifs, top 3 des plaintes, top 3 des éloges.</a:t>
            </a:r>
          </a:p>
          <a:p>
            <a:pPr algn="l">
              <a:lnSpc>
                <a:spcPct val="140000"/>
              </a:lnSpc>
            </a:pPr>
            <a:endParaRPr sz="1350" b="0" i="0">
              <a:solidFill>
                <a:srgbClr val="22262B"/>
              </a:solidFill>
              <a:latin typeface="Cambria"/>
            </a:endParaRP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62B"/>
                </a:solidFill>
                <a:latin typeface="Cambria"/>
              </a:rPr>
              <a:t>2.  Le Market Researcher reçoit ces plaintes, formule une à trois requêtes web sur DuckDuckGo et renvoie trois concurrents plausibles avec leurs URLs de preuve.</a:t>
            </a:r>
          </a:p>
          <a:p>
            <a:pPr algn="l">
              <a:lnSpc>
                <a:spcPct val="140000"/>
              </a:lnSpc>
            </a:pPr>
            <a:endParaRPr sz="1350" b="0" i="0">
              <a:solidFill>
                <a:srgbClr val="22262B"/>
              </a:solidFill>
              <a:latin typeface="Cambria"/>
            </a:endParaRPr>
          </a:p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22262B"/>
                </a:solidFill>
                <a:latin typeface="Cambria"/>
              </a:rPr>
              <a:t>3.  Le Report Orchestrator consomme les deux sorties JSON, rédige un brief d’une page, puis attend qu’un humain l’approuve, l’édite, ou le rejette.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97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CHIFFRES CLÉS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3017520"/>
            <a:ext cx="402336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32004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Élément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200400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Valeur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3566160"/>
            <a:ext cx="4114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0" y="365760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65760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233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Outils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402336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3891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438912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Gemini / 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5488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475488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CrewAI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12064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5120640"/>
            <a:ext cx="2834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JSONL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LES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Rôles, motivations, 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Trois spécialisations, trois prompts soignés.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405244"/>
                </a:solidFill>
                <a:latin typeface="Cambria"/>
              </a:rPr>
              <a:t>Sentiment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763"/>
                </a:solidFill>
                <a:latin typeface="Cambria"/>
              </a:rPr>
              <a:t>Lit, classe, agrège.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61188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749040"/>
            <a:ext cx="3611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Reçoit le chemin du CSV. Appelle BERT sur chaque avis, agrège les comptes par classe, fait remonter les thèmes récurrents en citant les avis sources.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8AC8F"/>
                </a:solidFill>
                <a:latin typeface="Calibri"/>
              </a:rPr>
              <a:t>OUTILS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bert_sentiment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review_loader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405244"/>
                </a:solidFill>
                <a:latin typeface="Cambria"/>
              </a:rPr>
              <a:t>Market Researcher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200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763"/>
                </a:solidFill>
                <a:latin typeface="Cambria"/>
              </a:rPr>
              <a:t>Identifie les concurrents.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89120" y="361188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89120" y="3749040"/>
            <a:ext cx="3611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Part des plaintes pour formuler ses requêtes web. Renvoie trois concurrents plausibles avec un URL réel de DuckDuckGo. N’invente jamais une source.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6235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8AC8F"/>
                </a:solidFill>
                <a:latin typeface="Calibri"/>
              </a:rPr>
              <a:t>OUTILS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89788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competitor_search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>
                <a:solidFill>
                  <a:srgbClr val="405244"/>
                </a:solidFill>
                <a:latin typeface="Cambria"/>
              </a:rPr>
              <a:t>Report 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20040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763"/>
                </a:solidFill>
                <a:latin typeface="Cambria"/>
              </a:rPr>
              <a:t>Rédige et soumet.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38160" y="361188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38160" y="3749040"/>
            <a:ext cx="361188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Aucun outil — c’est volontaire. Synthétise les deux sorties précédentes en un brief structuré, puis attend la validation humaine avant d’écrire sur disque.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62356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B8AC8F"/>
                </a:solidFill>
                <a:latin typeface="Calibri"/>
              </a:rPr>
              <a:t>OUTILS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897880"/>
            <a:ext cx="3611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—  (synthèse seule)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MODÈLE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Un DistilBERT fine-tuné, pas une API généraliste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Un modèle local, calibré sur le domaine, appelé une fois par avis.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6974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POURQUOI DISTILBERT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658368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22262B"/>
                </a:solidFill>
                <a:latin typeface="Cambria"/>
              </a:rPr>
              <a:t>À l’exécution, l’agent appelle le modèle une fois par avis. La latence compte donc. DistilBERT-base-uncased est ~60% de la taille de BERT-base et environ deux fois plus rapide, pour une perte d’accuracy inférieure à un point sur la classification binaire.</a:t>
            </a:r>
          </a:p>
          <a:p>
            <a:pPr algn="l">
              <a:lnSpc>
                <a:spcPct val="145000"/>
              </a:lnSpc>
            </a:pPr>
            <a:endParaRPr sz="1350" b="0" i="0">
              <a:solidFill>
                <a:srgbClr val="22262B"/>
              </a:solidFill>
              <a:latin typeface="Cambria"/>
            </a:endParaRPr>
          </a:p>
          <a:p>
            <a:pPr algn="l">
              <a:lnSpc>
                <a:spcPct val="145000"/>
              </a:lnSpc>
            </a:pPr>
            <a:r>
              <a:rPr sz="1350" b="0" i="0">
                <a:solidFill>
                  <a:srgbClr val="22262B"/>
                </a:solidFill>
                <a:latin typeface="Cambria"/>
              </a:rPr>
              <a:t>Nous le fine-tunons sur amazon_polarity — un corpus exactement aligné sur notre domaine (avis produits). Un sous-échantillon stratifié de 18 000 lignes suffit pour atteindre un palier de qualité honnête en moins de quinze minutes sur MPS.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974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HYPERPARAMÈTRES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80960" y="3017520"/>
            <a:ext cx="402336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680960" y="3200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B8AC8F"/>
                </a:solidFill>
                <a:latin typeface="Calibri"/>
              </a:rPr>
              <a:t>Paramètre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0040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B8AC8F"/>
                </a:solidFill>
                <a:latin typeface="Calibri"/>
              </a:rPr>
              <a:t>Valeur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0960" y="3566160"/>
            <a:ext cx="438912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80960" y="36576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6576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distilbert-base-uncased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0233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Taille corpus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0233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18 000 / 2 000 / 5 000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3891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Époques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3891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5488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Learning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75488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2e-5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1206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Batch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12064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4864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Max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4864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256 tokens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585216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A5763"/>
                </a:solidFill>
                <a:latin typeface="Cambria"/>
              </a:rPr>
              <a:t>Seed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85216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22262B"/>
                </a:solidFill>
                <a:latin typeface="Cambria"/>
              </a:rPr>
              <a:t>42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ÉVALUATION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Résultats sur 5 000 avis tenus hors 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Accuracy et F1 pondéré à 94,5%. Erreurs équilibrées entre les deux classes.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val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445770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2697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MÉTRIQUES PAR CLASSE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675120" y="3017520"/>
            <a:ext cx="50292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75120" y="32004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Classe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20040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Précision / Rappel / F1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675120" y="3566160"/>
            <a:ext cx="48006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365760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Négatif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6576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0,942  ·  0,949  ·  0,945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Positif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2336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0,949  ·  0,941  ·  0,945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389120"/>
            <a:ext cx="1508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4A5763"/>
                </a:solidFill>
                <a:latin typeface="Cambria"/>
              </a:rPr>
              <a:t>Macro avg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3891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2262B"/>
                </a:solidFill>
                <a:latin typeface="Cambria"/>
              </a:rPr>
              <a:t>0,945  ·  0,945  ·  0,945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9377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LECTURE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2578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22262B"/>
                </a:solidFill>
                <a:latin typeface="Cambria"/>
              </a:rPr>
              <a:t>127 faux positifs et 147 faux négatifs — la répartition équilibrée indique que le modèle ne s’effondre pas vers une classe majoritaire.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OUTILS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Trois outils, trois contrats explicites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Schémas Pydantic en entrée, JSON structuré en sortie, jamais d’exception qui remonte.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405244"/>
                </a:solidFill>
                <a:latin typeface="Cambria"/>
              </a:rPr>
              <a:t>bert_sentiment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20040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38328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texts: list[str]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→ list[{label, score, backend}]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3611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Enveloppe notre DistilBERT. Préchargé une seule fois, puis appelé en batch. Bascule sur une heuristique par mots-clés si aucun checkpoint n’est présent.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405244"/>
                </a:solidFill>
                <a:latin typeface="Cambria"/>
              </a:rPr>
              <a:t>review_loader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89120" y="320040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89120" y="338328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path: str, max_rows: int = 200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→ list[{id, text, rating}]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617720"/>
            <a:ext cx="3611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Lit un CSV en respectant les virgules échappées et l’encodage UTF-8. Saute les lignes vides, plafonne les fichiers longs, signale les colonnes manquantes.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9748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405244"/>
                </a:solidFill>
                <a:latin typeface="Cambria"/>
              </a:rPr>
              <a:t>competitor_search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38160" y="3200400"/>
            <a:ext cx="41148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38160" y="3383280"/>
            <a:ext cx="3611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query: str, k: int = 5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763"/>
                </a:solidFill>
                <a:latin typeface="Menlo"/>
              </a:rPr>
              <a:t>→ list[{title, snippet, url}]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617720"/>
            <a:ext cx="3611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Requête DuckDuckGo — gratuit, sans clé d’API. Renvoie un avertissement structuré sur zéro résultat plutôt que d’inventer une réponse.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VALIDATION HUMAINE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Aucun brief publié sans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Deux surfaces, une même logique : terminal pour la démo CLI, navigateur pour Streamlit.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280720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2688" y="2651760"/>
            <a:ext cx="65653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405244"/>
                </a:solidFill>
                <a:latin typeface="Cambria"/>
              </a:rPr>
              <a:t>Approuver. </a:t>
            </a:r>
            <a:r>
              <a:rPr sz="1350">
                <a:solidFill>
                  <a:srgbClr val="22262B"/>
                </a:solidFill>
                <a:latin typeface="Cambria"/>
              </a:rPr>
              <a:t>Le brief est écrit verbatim dans outputs/market_brief_&lt;timestamp&gt;.md.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31012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154680"/>
            <a:ext cx="65653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405244"/>
                </a:solidFill>
                <a:latin typeface="Cambria"/>
              </a:rPr>
              <a:t>Éditer. </a:t>
            </a:r>
            <a:r>
              <a:rPr sz="1350">
                <a:solidFill>
                  <a:srgbClr val="22262B"/>
                </a:solidFill>
                <a:latin typeface="Cambria"/>
              </a:rPr>
              <a:t>Le réviseur réécrit des passages ; la version finale et le diff sont journalisés.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81304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3657600"/>
            <a:ext cx="65653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405244"/>
                </a:solidFill>
                <a:latin typeface="Cambria"/>
              </a:rPr>
              <a:t>Rejeter avec instruction. </a:t>
            </a:r>
            <a:r>
              <a:rPr sz="1350">
                <a:solidFill>
                  <a:srgbClr val="22262B"/>
                </a:solidFill>
                <a:latin typeface="Cambria"/>
              </a:rPr>
              <a:t>Le Report Orchestrator regénère en intégrant l’instruction — nombre de retries borné.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1596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4160520"/>
            <a:ext cx="65653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405244"/>
                </a:solidFill>
                <a:latin typeface="Cambria"/>
              </a:rPr>
              <a:t>Mode CLI. </a:t>
            </a:r>
            <a:r>
              <a:rPr sz="1350">
                <a:solidFill>
                  <a:srgbClr val="22262B"/>
                </a:solidFill>
                <a:latin typeface="Cambria"/>
              </a:rPr>
              <a:t>human_input=True sur la tâche d’orchestration ; bloque sur stdin.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81888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4663440"/>
            <a:ext cx="65653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1">
                <a:solidFill>
                  <a:srgbClr val="405244"/>
                </a:solidFill>
                <a:latin typeface="Cambria"/>
              </a:rPr>
              <a:t>Mode Streamlit. </a:t>
            </a:r>
            <a:r>
              <a:rPr sz="1350">
                <a:solidFill>
                  <a:srgbClr val="22262B"/>
                </a:solidFill>
                <a:latin typeface="Cambria"/>
              </a:rPr>
              <a:t>Boutons Approve / Save edits / Reject ; le draft s’affiche dans une textarea.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697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POURQUOI C’EST IMPORTANT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55279" y="3017520"/>
            <a:ext cx="36576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55279" y="3200400"/>
            <a:ext cx="3657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Deux lignes de code, un effet de confiance majeur : aucun brief automatique ne passe en production sans qu’un humain ne l’ait lu.</a:t>
            </a:r>
          </a:p>
          <a:p>
            <a:pPr algn="l">
              <a:lnSpc>
                <a:spcPct val="145000"/>
              </a:lnSpc>
            </a:pPr>
            <a:endParaRPr sz="1250" b="0" i="0">
              <a:solidFill>
                <a:srgbClr val="22262B"/>
              </a:solidFill>
              <a:latin typeface="Cambria"/>
            </a:endParaRP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22262B"/>
                </a:solidFill>
                <a:latin typeface="Cambria"/>
              </a:rPr>
              <a:t>C’est la fonctionnalité la plus simple à intégrer et la plus susceptible de faire adopter ce type de système dans une organisation réelle.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LIMITES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Ce que nous assumons, et ce qui suivrait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Une analyse honnête des frontières actuelles du système.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2697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LIMITES ACTUELLES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017520"/>
            <a:ext cx="521208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331012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15468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Anglais uniquement. </a:t>
            </a:r>
            <a:r>
              <a:rPr sz="1250">
                <a:solidFill>
                  <a:srgbClr val="22262B"/>
                </a:solidFill>
                <a:latin typeface="Cambria"/>
              </a:rPr>
              <a:t>Le corpus d’entraînement est anglais ; les avis non anglais sont mal classés.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81304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365760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 dirty="0" err="1">
                <a:solidFill>
                  <a:srgbClr val="405244"/>
                </a:solidFill>
                <a:latin typeface="Cambria"/>
              </a:rPr>
              <a:t>Étiquettes</a:t>
            </a:r>
            <a:r>
              <a:rPr sz="1250" b="1" dirty="0">
                <a:solidFill>
                  <a:srgbClr val="405244"/>
                </a:solidFill>
                <a:latin typeface="Cambria"/>
              </a:rPr>
              <a:t> </a:t>
            </a:r>
            <a:r>
              <a:rPr sz="1250" b="1" dirty="0" err="1">
                <a:solidFill>
                  <a:srgbClr val="405244"/>
                </a:solidFill>
                <a:latin typeface="Cambria"/>
              </a:rPr>
              <a:t>binaires</a:t>
            </a:r>
            <a:r>
              <a:rPr sz="1250" b="1" dirty="0">
                <a:solidFill>
                  <a:srgbClr val="405244"/>
                </a:solidFill>
                <a:latin typeface="Cambria"/>
              </a:rPr>
              <a:t>. </a:t>
            </a:r>
            <a:r>
              <a:rPr sz="1250" dirty="0">
                <a:solidFill>
                  <a:srgbClr val="22262B"/>
                </a:solidFill>
                <a:latin typeface="Cambria"/>
              </a:rPr>
              <a:t>Pas de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classe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neutre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— un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avis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3 étoiles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est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forcé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vers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positif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ou</a:t>
            </a:r>
            <a:r>
              <a:rPr sz="1250" dirty="0">
                <a:solidFill>
                  <a:srgbClr val="22262B"/>
                </a:solidFill>
                <a:latin typeface="Cambria"/>
              </a:rPr>
              <a:t> </a:t>
            </a:r>
            <a:r>
              <a:rPr sz="1250" dirty="0" err="1">
                <a:solidFill>
                  <a:srgbClr val="22262B"/>
                </a:solidFill>
                <a:latin typeface="Cambria"/>
              </a:rPr>
              <a:t>négatif</a:t>
            </a:r>
            <a:r>
              <a:rPr sz="1250" dirty="0">
                <a:solidFill>
                  <a:srgbClr val="22262B"/>
                </a:solidFill>
                <a:latin typeface="Cambria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431596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2688" y="416052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LLM unique testé. </a:t>
            </a:r>
            <a:r>
              <a:rPr sz="1250">
                <a:solidFill>
                  <a:srgbClr val="22262B"/>
                </a:solidFill>
                <a:latin typeface="Cambria"/>
              </a:rPr>
              <a:t>Démo défense en Gemini ; Ollama configuré mais non benchmarké.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481888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32688" y="466344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Pas de persistance entre runs. </a:t>
            </a:r>
            <a:r>
              <a:rPr sz="1250">
                <a:solidFill>
                  <a:srgbClr val="22262B"/>
                </a:solidFill>
                <a:latin typeface="Cambria"/>
              </a:rPr>
              <a:t>Aucun suivi historique d’un même produit dans le temps.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PERSPECTIVES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3017520"/>
            <a:ext cx="521208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331012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693408" y="315468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Sentiment à trois classes. </a:t>
            </a:r>
            <a:r>
              <a:rPr sz="1250">
                <a:solidFill>
                  <a:srgbClr val="22262B"/>
                </a:solidFill>
                <a:latin typeface="Cambria"/>
              </a:rPr>
              <a:t>Migration sur Yelp Reviews Full pour intégrer la classe neutre.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381304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93408" y="365760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Sentiment par aspect. </a:t>
            </a:r>
            <a:r>
              <a:rPr sz="1250">
                <a:solidFill>
                  <a:srgbClr val="22262B"/>
                </a:solidFill>
                <a:latin typeface="Cambria"/>
              </a:rPr>
              <a:t>« batterie : négatif, son : positif » — briefs plus précis.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431596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93408" y="416052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Modèle multilingue. </a:t>
            </a:r>
            <a:r>
              <a:rPr sz="1250">
                <a:solidFill>
                  <a:srgbClr val="22262B"/>
                </a:solidFill>
                <a:latin typeface="Cambria"/>
              </a:rPr>
              <a:t>Bascule sur xlm-roberta-base ou mBERT dès que les données le permettent.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481888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93408" y="4663440"/>
            <a:ext cx="491947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250" b="1">
                <a:solidFill>
                  <a:srgbClr val="405244"/>
                </a:solidFill>
                <a:latin typeface="Cambria"/>
              </a:rPr>
              <a:t>Mémoire longue durée. </a:t>
            </a:r>
            <a:r>
              <a:rPr sz="1250">
                <a:solidFill>
                  <a:srgbClr val="22262B"/>
                </a:solidFill>
                <a:latin typeface="Cambria"/>
              </a:rPr>
              <a:t>Vectorisation des briefs passés pour suivre une tendance produit.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B8AC8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405244"/>
                </a:solidFill>
                <a:latin typeface="Cambria"/>
              </a:rPr>
              <a:t>Ce qui rend ce système crédible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763"/>
                </a:solidFill>
                <a:latin typeface="Cambria"/>
              </a:rPr>
              <a:t>Trois choix de conception qui se complètent — et que nous défendrions à nouveau.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148840"/>
            <a:ext cx="1828800" cy="0"/>
          </a:xfrm>
          <a:prstGeom prst="line">
            <a:avLst/>
          </a:prstGeom>
          <a:ln w="1905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280720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32688" y="265176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Spécialisation plutôt que généralisation. </a:t>
            </a:r>
            <a:r>
              <a:rPr sz="1400">
                <a:solidFill>
                  <a:srgbClr val="22262B"/>
                </a:solidFill>
                <a:latin typeface="Cambria"/>
              </a:rPr>
              <a:t>Trois agents courts, chacun avec un rôle clair et un outil ciblé, produisent un brief plus précis qu’un super-prompt qui tente de tout faire.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331012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2688" y="315468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Un modèle entraîné sur le domaine, pas un appel API généraliste. </a:t>
            </a:r>
            <a:r>
              <a:rPr sz="1400">
                <a:solidFill>
                  <a:srgbClr val="22262B"/>
                </a:solidFill>
                <a:latin typeface="Cambria"/>
              </a:rPr>
              <a:t>94,5% d’accuracy sur 5 000 avis tenus hors entraînement. Coût zéro à l’inférence, latence sous la seconde, calibration vérifiée.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3813048"/>
            <a:ext cx="164592" cy="0"/>
          </a:xfrm>
          <a:prstGeom prst="line">
            <a:avLst/>
          </a:prstGeom>
          <a:ln w="25400">
            <a:solidFill>
              <a:srgbClr val="5F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3657600"/>
            <a:ext cx="10680192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405244"/>
                </a:solidFill>
                <a:latin typeface="Cambria"/>
              </a:rPr>
              <a:t>Le contrôle humain comme contrat d’audit. </a:t>
            </a:r>
            <a:r>
              <a:rPr sz="1400">
                <a:solidFill>
                  <a:srgbClr val="22262B"/>
                </a:solidFill>
                <a:latin typeface="Cambria"/>
              </a:rPr>
              <a:t>Aucun brief publié sans approbation. Trace JSONL complète de chaque décision — déployable dans une organisation qui exige de la responsabilité.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" y="54864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4A5763"/>
                </a:solidFill>
                <a:latin typeface="Cambria"/>
              </a:rPr>
              <a:t>Et la suite : sentiment par aspect, modèle multilingue, mémoire longue durée.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6400800"/>
            <a:ext cx="10972800" cy="0"/>
          </a:xfrm>
          <a:prstGeom prst="line">
            <a:avLst/>
          </a:prstGeom>
          <a:ln w="635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B96A0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B8AC8F"/>
                </a:solidFill>
                <a:latin typeface="Calibri"/>
              </a:rPr>
              <a:t>M E R C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642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 i="0">
                <a:solidFill>
                  <a:srgbClr val="405244"/>
                </a:solidFill>
                <a:latin typeface="Cambria"/>
              </a:rPr>
              <a:t>Merci de votre attention.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12080" y="5120640"/>
            <a:ext cx="1828800" cy="0"/>
          </a:xfrm>
          <a:prstGeom prst="line">
            <a:avLst/>
          </a:prstGeom>
          <a:ln w="12700">
            <a:solidFill>
              <a:srgbClr val="B8A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4A5763"/>
                </a:solidFill>
                <a:latin typeface="Cambria"/>
              </a:rPr>
              <a:t>Chaymae Benmakhlouf  ·  Maroua Ait Sassi  ·  Rania Bouaroua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1451</Words>
  <Application>Microsoft Macintosh PowerPoint</Application>
  <PresentationFormat>Widescreen</PresentationFormat>
  <Paragraphs>160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Maroua AIT SASSI</cp:lastModifiedBy>
  <cp:revision>3</cp:revision>
  <dcterms:created xsi:type="dcterms:W3CDTF">2013-01-27T09:14:16Z</dcterms:created>
  <dcterms:modified xsi:type="dcterms:W3CDTF">2026-05-24T11:41:49Z</dcterms:modified>
  <cp:category/>
</cp:coreProperties>
</file>